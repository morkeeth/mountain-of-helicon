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e6ebafdd154535" /><Relationship Type="http://schemas.openxmlformats.org/officeDocument/2006/relationships/extended-properties" Target="/docProps/app.xml" Id="R0252a9e2f4d94c3b" /><Relationship Type="http://schemas.openxmlformats.org/officeDocument/2006/relationships/officeDocument" Target="/ppt/presentation.xml" Id="R651a6861c85049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35dca836ea4659"/>
  </p:sldMasterIdLst>
  <p:notesMasterIdLst>
    <p:notesMasterId xmlns:r="http://schemas.openxmlformats.org/officeDocument/2006/relationships" r:id="Rce958b7809934fc0"/>
  </p:notesMasterIdLst>
  <p:sldIdLst>
    <p:sldId xmlns:r="http://schemas.openxmlformats.org/officeDocument/2006/relationships" id="256" r:id="R239bfa8f0dc047fa"/>
    <p:sldId xmlns:r="http://schemas.openxmlformats.org/officeDocument/2006/relationships" id="257" r:id="R4d02398635ab441e"/>
    <p:sldId xmlns:r="http://schemas.openxmlformats.org/officeDocument/2006/relationships" id="258" r:id="R8cf5c91a62e34791"/>
    <p:sldId xmlns:r="http://schemas.openxmlformats.org/officeDocument/2006/relationships" id="259" r:id="Re9da30263bef4a75"/>
    <p:sldId xmlns:r="http://schemas.openxmlformats.org/officeDocument/2006/relationships" id="260" r:id="Rad737d0ce0bd4e0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0091191f2e4b67" /><Relationship Type="http://schemas.openxmlformats.org/officeDocument/2006/relationships/slideMaster" Target="/ppt/slideMasters/slideMaster1.xml" Id="R2835dca836ea4659" /><Relationship Type="http://schemas.openxmlformats.org/officeDocument/2006/relationships/notesMaster" Target="/ppt/notesMasters/notesMaster1.xml" Id="Rce958b7809934fc0" /><Relationship Type="http://schemas.openxmlformats.org/officeDocument/2006/relationships/presProps" Target="/ppt/presProps.xml" Id="R3aff790d34bf4b0d" /><Relationship Type="http://schemas.openxmlformats.org/officeDocument/2006/relationships/tableStyles" Target="/ppt/tableStyles.xml" Id="Raeb4efbfde854613" /><Relationship Type="http://schemas.openxmlformats.org/officeDocument/2006/relationships/slide" Target="/ppt/slides/slide1.xml" Id="R239bfa8f0dc047fa" /><Relationship Type="http://schemas.openxmlformats.org/officeDocument/2006/relationships/slide" Target="/ppt/slides/slide2.xml" Id="R4d02398635ab441e" /><Relationship Type="http://schemas.openxmlformats.org/officeDocument/2006/relationships/slide" Target="/ppt/slides/slide3.xml" Id="R8cf5c91a62e34791" /><Relationship Type="http://schemas.openxmlformats.org/officeDocument/2006/relationships/slide" Target="/ppt/slides/slide4.xml" Id="Re9da30263bef4a75" /><Relationship Type="http://schemas.openxmlformats.org/officeDocument/2006/relationships/slide" Target="/ppt/slides/slide5.xml" Id="Rad737d0ce0bd4e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692d101bc24a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fb8cba1bcd45df" /><Relationship Type="http://schemas.openxmlformats.org/officeDocument/2006/relationships/notesMaster" Target="/ppt/notesMasters/notesMaster1.xml" Id="R64505f729f0e41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5867b3a8774aa6" /><Relationship Type="http://schemas.openxmlformats.org/officeDocument/2006/relationships/notesMaster" Target="/ppt/notesMasters/notesMaster1.xml" Id="Raaa79189c5524d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f4f6f7d2c5463d" /><Relationship Type="http://schemas.openxmlformats.org/officeDocument/2006/relationships/notesMaster" Target="/ppt/notesMasters/notesMaster1.xml" Id="R55ec46762a6e4c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d7739333db4a5e" /><Relationship Type="http://schemas.openxmlformats.org/officeDocument/2006/relationships/notesMaster" Target="/ppt/notesMasters/notesMaster1.xml" Id="R58582db19c7445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13c46143984e35" /><Relationship Type="http://schemas.openxmlformats.org/officeDocument/2006/relationships/notesMaster" Target="/ppt/notesMasters/notesMaster1.xml" Id="Re73b57cc3c9947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07f9e660e64d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498001d502422d" /><Relationship Type="http://schemas.openxmlformats.org/officeDocument/2006/relationships/slideLayout" Target="/ppt/slideLayouts/slideLayout1.xml" Id="R3cc82d9b6f5846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c82d9b6f5846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83a642b8940be" /><Relationship Type="http://schemas.openxmlformats.org/officeDocument/2006/relationships/notesSlide" Target="/ppt/notesSlides/notesSlide1.xml" Id="Re7cfb017c3a147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20e2b30c047ac" /><Relationship Type="http://schemas.openxmlformats.org/officeDocument/2006/relationships/notesSlide" Target="/ppt/notesSlides/notesSlide2.xml" Id="Rb3317727411c4e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2bfabe38f4fb8" /><Relationship Type="http://schemas.openxmlformats.org/officeDocument/2006/relationships/notesSlide" Target="/ppt/notesSlides/notesSlide3.xml" Id="Ra76b7159a6e347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375c0b4294608" /><Relationship Type="http://schemas.openxmlformats.org/officeDocument/2006/relationships/notesSlide" Target="/ppt/notesSlides/notesSlide4.xml" Id="R99a69eb306a047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812d07b9a4ba9" /><Relationship Type="http://schemas.openxmlformats.org/officeDocument/2006/relationships/notesSlide" Target="/ppt/notesSlides/notesSlide5.xml" Id="R26235c68732d41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9128BA3B-8672-4C1E-8C50-ECA9075D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COURT OF RECORD FOR AGENT MEMORY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A57A50E-232E-4982-8211-2F322706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Mount Helicon</a:t>
            </a:r>
          </a:p>
        </p:txBody>
      </p:sp>
      <p:sp>
        <p:nvSpPr>
          <p:cNvPr id="3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B1EC5C86-55F3-44B6-B5AF-4274B1FC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Qwen finds the contradiction.</a:t>
            </a:r>
          </a:p>
          <a:p xmlns:a="http://schemas.openxmlformats.org/drawingml/2006/main">
            <a:pPr algn="l">
              <a:defRPr sz="2850" b="0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You rule once. The guard makes it hold.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4708001C-B747-4290-92D3-9760CD03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174"/>
                </a:solidFill>
                <a:latin typeface="Helvetica Neue"/>
                <a:ea typeface="Helvetica Neue"/>
                <a:cs typeface="Helvetica Neue"/>
              </a:rPr>
              <a:t>MemoryAgent · Native macOS + CLI + MCP · Deployed on Alibaba Cloud ECS</a:t>
            </a:r>
          </a:p>
        </p:txBody>
      </p:sp>
      <p:sp>
        <p:nvSpPr>
          <p:cNvPr id="5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F0F43BD-B767-4BF7-99B2-AB428C11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"/>
            <a:ext cx="1352550" cy="563880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D9EEFA"/>
          </a:solidFill>
          <a:ln xmlns:a="http://schemas.openxmlformats.org/drawingml/2006/main" w="9525">
            <a:solidFill>
              <a:srgbClr val="D9EEFA"/>
            </a:solidFill>
            <a:prstDash val="solid"/>
          </a:ln>
        </p:spPr>
      </p:sp>
      <p:sp>
        <p:nvSpPr>
          <p:cNvPr id="6" name="cover-mark">
            <a:extLst xmlns:a="http://schemas.openxmlformats.org/drawingml/2006/main">
              <a:ext uri="{FF2B5EF4-FFF2-40B4-BE49-F238E27FC236}">
                <a16:creationId xmlns:a16="http://schemas.microsoft.com/office/drawing/2014/main" id="{B3134EA7-7F99-4D1F-98E7-0C39F7A2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19625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MH</a:t>
            </a:r>
          </a:p>
        </p:txBody>
      </p:sp>
      <p:sp>
        <p:nvSpPr>
          <p:cNvPr id="7" name="footer-1">
            <a:extLst xmlns:a="http://schemas.openxmlformats.org/drawingml/2006/main">
              <a:ext uri="{FF2B5EF4-FFF2-40B4-BE49-F238E27FC236}">
                <a16:creationId xmlns:a16="http://schemas.microsoft.com/office/drawing/2014/main" id="{FEEA3C6B-AC4B-456D-AC22-30828FED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174"/>
                </a:solidFill>
                <a:latin typeface="Helvetica Neue"/>
                <a:ea typeface="Helvetica Neue"/>
                <a:cs typeface="Helvetica Neue"/>
              </a:rPr>
              <a:t>MOUNT HELICON  ·  QWEN CLOUD MEMORYAGENT  ·  1</a:t>
            </a:r>
          </a:p>
        </p:txBody>
      </p:sp>
    </p:spTree>
    <p:extLst>
      <p:ext uri="{BB962C8B-B14F-4D97-AF65-F5344CB8AC3E}">
        <p14:creationId xmlns:p14="http://schemas.microsoft.com/office/powerpoint/2010/main" val="9336095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">
            <a:extLst xmlns:a="http://schemas.openxmlformats.org/drawingml/2006/main">
              <a:ext uri="{FF2B5EF4-FFF2-40B4-BE49-F238E27FC236}">
                <a16:creationId xmlns:a16="http://schemas.microsoft.com/office/drawing/2014/main" id="{CC5BA984-06A6-4B38-B991-62589342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Memory becomes dangerous when it stays confidently wrong</a:t>
            </a:r>
          </a:p>
        </p:txBody>
      </p:sp>
      <p:sp>
        <p:nvSpPr>
          <p:cNvPr id="2" name="footer-2">
            <a:extLst xmlns:a="http://schemas.openxmlformats.org/drawingml/2006/main">
              <a:ext uri="{FF2B5EF4-FFF2-40B4-BE49-F238E27FC236}">
                <a16:creationId xmlns:a16="http://schemas.microsoft.com/office/drawing/2014/main" id="{33CB4EC2-6995-40D7-A540-31F22D16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174"/>
                </a:solidFill>
                <a:latin typeface="Helvetica Neue"/>
                <a:ea typeface="Helvetica Neue"/>
                <a:cs typeface="Helvetica Neue"/>
              </a:rPr>
              <a:t>MOUNT HELICON  ·  QWEN CLOUD MEMORYAGENT  ·  2</a:t>
            </a:r>
          </a:p>
        </p:txBody>
      </p:sp>
      <p:sp>
        <p:nvSpPr>
          <p:cNvPr id="3" name="problem">
            <a:extLst xmlns:a="http://schemas.openxmlformats.org/drawingml/2006/main">
              <a:ext uri="{FF2B5EF4-FFF2-40B4-BE49-F238E27FC236}">
                <a16:creationId xmlns:a16="http://schemas.microsoft.com/office/drawing/2014/main" id="{861A6C5C-9D74-422E-B881-1F279A58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174"/>
                </a:solidFill>
                <a:latin typeface="Helvetica Neue"/>
                <a:ea typeface="Helvetica Neue"/>
                <a:cs typeface="Helvetica Neue"/>
              </a:rPr>
              <a:t>THE FAILURE</a:t>
            </a:r>
          </a:p>
        </p:txBody>
      </p:sp>
      <p:sp>
        <p:nvSpPr>
          <p:cNvPr id="4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E5C6B201-066B-4FB5-969D-A116AF4C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4857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An agent remembers both: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“Stripe is in test mode.”</a:t>
            </a:r>
          </a:p>
          <a:p xmlns:a="http://schemas.openxmlformats.org/drawingml/2006/main">
            <a:pPr algn="l">
              <a:defRPr sz="2025" b="0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“We went live; every charge is real money.”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Similarity search retrieves both. It cannot decide whether both can be true.</a:t>
            </a:r>
          </a:p>
        </p:txBody>
      </p:sp>
      <p:sp>
        <p:nvSpPr>
          <p:cNvPr id="5" name="solution-panel">
            <a:extLst xmlns:a="http://schemas.openxmlformats.org/drawingml/2006/main">
              <a:ext uri="{FF2B5EF4-FFF2-40B4-BE49-F238E27FC236}">
                <a16:creationId xmlns:a16="http://schemas.microsoft.com/office/drawing/2014/main" id="{2105504A-99FE-4A70-A802-3ECFCBA5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55435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D9EE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2639B34D-EECA-4C70-A2C8-27D6328C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MOUNT HELICON</a:t>
            </a:r>
          </a:p>
        </p:txBody>
      </p:sp>
      <p:sp>
        <p:nvSpPr>
          <p:cNvPr id="7" name="solution-copy">
            <a:extLst xmlns:a="http://schemas.openxmlformats.org/drawingml/2006/main">
              <a:ext uri="{FF2B5EF4-FFF2-40B4-BE49-F238E27FC236}">
                <a16:creationId xmlns:a16="http://schemas.microsoft.com/office/drawing/2014/main" id="{48AF2D10-DAB4-4F81-BE31-20923E58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4667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Qwen judges the logical contradiction.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A human selects the canonical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The ruling compiles into policy.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The guard blocks the ruled-wrong fact if it returns.</a:t>
            </a:r>
          </a:p>
        </p:txBody>
      </p:sp>
    </p:spTree>
    <p:extLst>
      <p:ext uri="{BB962C8B-B14F-4D97-AF65-F5344CB8AC3E}">
        <p14:creationId xmlns:p14="http://schemas.microsoft.com/office/powerpoint/2010/main" val="1874350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-3">
            <a:extLst xmlns:a="http://schemas.openxmlformats.org/drawingml/2006/main">
              <a:ext uri="{FF2B5EF4-FFF2-40B4-BE49-F238E27FC236}">
                <a16:creationId xmlns:a16="http://schemas.microsoft.com/office/drawing/2014/main" id="{F9934812-B0F9-4783-B323-BA90AB3A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One governed loop connects memory, judgment and enforcement</a:t>
            </a:r>
          </a:p>
        </p:txBody>
      </p:sp>
      <p:sp>
        <p:nvSpPr>
          <p:cNvPr id="2" name="footer-3">
            <a:extLst xmlns:a="http://schemas.openxmlformats.org/drawingml/2006/main">
              <a:ext uri="{FF2B5EF4-FFF2-40B4-BE49-F238E27FC236}">
                <a16:creationId xmlns:a16="http://schemas.microsoft.com/office/drawing/2014/main" id="{E2A02778-E87D-4736-876C-B397D2DC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174"/>
                </a:solidFill>
                <a:latin typeface="Helvetica Neue"/>
                <a:ea typeface="Helvetica Neue"/>
                <a:cs typeface="Helvetica Neue"/>
              </a:rPr>
              <a:t>MOUNT HELICON  ·  QWEN CLOUD MEMORYAGENT  ·  3</a:t>
            </a:r>
          </a:p>
        </p:txBody>
      </p:sp>
      <p:sp>
        <p:nvSpPr>
          <p:cNvPr id="3" name="node-0">
            <a:extLst xmlns:a="http://schemas.openxmlformats.org/drawingml/2006/main">
              <a:ext uri="{FF2B5EF4-FFF2-40B4-BE49-F238E27FC236}">
                <a16:creationId xmlns:a16="http://schemas.microsoft.com/office/drawing/2014/main" id="{90499060-7FB7-4665-889D-E61B18BF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18669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B8C0C9"/>
            </a:solidFill>
            <a:prstDash val="solid"/>
          </a:ln>
        </p:spPr>
      </p:sp>
      <p:sp>
        <p:nvSpPr>
          <p:cNvPr id="4" name="node-1">
            <a:extLst xmlns:a="http://schemas.openxmlformats.org/drawingml/2006/main">
              <a:ext uri="{FF2B5EF4-FFF2-40B4-BE49-F238E27FC236}">
                <a16:creationId xmlns:a16="http://schemas.microsoft.com/office/drawing/2014/main" id="{97221D41-5D4D-4AC5-B156-B36E0456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66950"/>
            <a:ext cx="18669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B8C0C9"/>
            </a:solidFill>
            <a:prstDash val="solid"/>
          </a:ln>
        </p:spPr>
      </p:sp>
      <p:sp>
        <p:nvSpPr>
          <p:cNvPr id="5" name="node-2">
            <a:extLst xmlns:a="http://schemas.openxmlformats.org/drawingml/2006/main">
              <a:ext uri="{FF2B5EF4-FFF2-40B4-BE49-F238E27FC236}">
                <a16:creationId xmlns:a16="http://schemas.microsoft.com/office/drawing/2014/main" id="{9F8978C2-58D5-49D3-B9EA-3643480B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66950"/>
            <a:ext cx="18669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9EE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node-3">
            <a:extLst xmlns:a="http://schemas.openxmlformats.org/drawingml/2006/main">
              <a:ext uri="{FF2B5EF4-FFF2-40B4-BE49-F238E27FC236}">
                <a16:creationId xmlns:a16="http://schemas.microsoft.com/office/drawing/2014/main" id="{19796813-F8F9-4269-8385-770322BC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18669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B8C0C9"/>
            </a:solidFill>
            <a:prstDash val="solid"/>
          </a:ln>
        </p:spPr>
      </p:sp>
      <p:sp>
        <p:nvSpPr>
          <p:cNvPr id="7" name="node-4">
            <a:extLst xmlns:a="http://schemas.openxmlformats.org/drawingml/2006/main">
              <a:ext uri="{FF2B5EF4-FFF2-40B4-BE49-F238E27FC236}">
                <a16:creationId xmlns:a16="http://schemas.microsoft.com/office/drawing/2014/main" id="{25915580-899A-4BA4-9993-DF4FD474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66950"/>
            <a:ext cx="18669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B8C0C9"/>
            </a:solidFill>
            <a:prstDash val="solid"/>
          </a:ln>
        </p:spPr>
      </p:sp>
      <p:cxnSp>
        <p:nvCxnSpPr>
          <p:cNvPr id="36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266950" y="29813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591050" y="29813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915150" y="29813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239250" y="29813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12" name="db-node">
            <a:extLst xmlns:a="http://schemas.openxmlformats.org/drawingml/2006/main">
              <a:ext uri="{FF2B5EF4-FFF2-40B4-BE49-F238E27FC236}">
                <a16:creationId xmlns:a16="http://schemas.microsoft.com/office/drawing/2014/main" id="{E74FB776-A6E3-488E-9F4F-3613C6C1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38650"/>
            <a:ext cx="1866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9"/>
            </a:solidFill>
            <a:prstDash val="solid"/>
          </a:ln>
        </p:spPr>
      </p:sp>
      <p:sp>
        <p:nvSpPr>
          <p:cNvPr id="13" name="surface-node">
            <a:extLst xmlns:a="http://schemas.openxmlformats.org/drawingml/2006/main">
              <a:ext uri="{FF2B5EF4-FFF2-40B4-BE49-F238E27FC236}">
                <a16:creationId xmlns:a16="http://schemas.microsoft.com/office/drawing/2014/main" id="{BB2AE778-29CB-4EF5-A5E8-345B8E5D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38650"/>
            <a:ext cx="1866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9"/>
            </a:solidFill>
            <a:prstDash val="solid"/>
          </a:ln>
        </p:spPr>
      </p:sp>
      <p:cxnSp>
        <p:nvCxnSpPr>
          <p:cNvPr id="42" name=""/>
          <p:cNvCxnSpPr>
            <a:stCxn xmlns:a="http://schemas.openxmlformats.org/drawingml/2006/main" id="4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657600" y="369570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174"/>
            </a:solidFill>
            <a:prstDash val="dash"/>
            <a:headEnd type="arrow" w="sm" len="sm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7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0629900" y="369570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sp>
        <p:nvSpPr>
          <p:cNvPr id="16" name="node-label-0">
            <a:extLst xmlns:a="http://schemas.openxmlformats.org/drawingml/2006/main">
              <a:ext uri="{FF2B5EF4-FFF2-40B4-BE49-F238E27FC236}">
                <a16:creationId xmlns:a16="http://schemas.microsoft.com/office/drawing/2014/main" id="{571C1CEC-3B63-4FC6-8E7E-0B0FE9E6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174"/>
                </a:solidFill>
                <a:latin typeface="Helvetica Neue"/>
                <a:ea typeface="Helvetica Neue"/>
                <a:cs typeface="Helvetica Neue"/>
              </a:rPr>
              <a:t>SOURCES</a:t>
            </a:r>
          </a:p>
        </p:txBody>
      </p:sp>
      <p:sp>
        <p:nvSpPr>
          <p:cNvPr id="17" name="node-copy-0">
            <a:extLst xmlns:a="http://schemas.openxmlformats.org/drawingml/2006/main">
              <a:ext uri="{FF2B5EF4-FFF2-40B4-BE49-F238E27FC236}">
                <a16:creationId xmlns:a16="http://schemas.microsoft.com/office/drawing/2014/main" id="{7B5E1EEA-2BF3-4707-857E-00E8200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384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Claude Code</a:t>
            </a:r>
          </a:p>
          <a:p xmlns:a="http://schemas.openxmlformats.org/drawingml/2006/main">
            <a:pPr algn="l">
              <a:def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Git · Obsidian</a:t>
            </a:r>
          </a:p>
          <a:p xmlns:a="http://schemas.openxmlformats.org/drawingml/2006/main">
            <a:pPr algn="l">
              <a:def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Mem0</a:t>
            </a:r>
          </a:p>
        </p:txBody>
      </p:sp>
      <p:sp>
        <p:nvSpPr>
          <p:cNvPr id="18" name="node-label-1">
            <a:extLst xmlns:a="http://schemas.openxmlformats.org/drawingml/2006/main">
              <a:ext uri="{FF2B5EF4-FFF2-40B4-BE49-F238E27FC236}">
                <a16:creationId xmlns:a16="http://schemas.microsoft.com/office/drawing/2014/main" id="{B05FFD48-7A6F-4345-81AF-69BBFE82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57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174"/>
                </a:solidFill>
                <a:latin typeface="Helvetica Neue"/>
                <a:ea typeface="Helvetica Neue"/>
                <a:cs typeface="Helvetica Neue"/>
              </a:rPr>
              <a:t>HELICON</a:t>
            </a:r>
          </a:p>
        </p:txBody>
      </p:sp>
      <p:sp>
        <p:nvSpPr>
          <p:cNvPr id="19" name="node-copy-1">
            <a:extLst xmlns:a="http://schemas.openxmlformats.org/drawingml/2006/main">
              <a:ext uri="{FF2B5EF4-FFF2-40B4-BE49-F238E27FC236}">
                <a16:creationId xmlns:a16="http://schemas.microsoft.com/office/drawing/2014/main" id="{1CE8B8EF-CF62-4830-9600-1B6AB361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384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FastAPI</a:t>
            </a:r>
          </a:p>
          <a:p xmlns:a="http://schemas.openxmlformats.org/drawingml/2006/main">
            <a:pPr algn="l">
              <a:def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12-class audit</a:t>
            </a:r>
          </a:p>
          <a:p xmlns:a="http://schemas.openxmlformats.org/drawingml/2006/main">
            <a:pPr algn="l">
              <a:def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Attribution</a:t>
            </a:r>
          </a:p>
        </p:txBody>
      </p:sp>
      <p:sp>
        <p:nvSpPr>
          <p:cNvPr id="20" name="node-label-2">
            <a:extLst xmlns:a="http://schemas.openxmlformats.org/drawingml/2006/main">
              <a:ext uri="{FF2B5EF4-FFF2-40B4-BE49-F238E27FC236}">
                <a16:creationId xmlns:a16="http://schemas.microsoft.com/office/drawing/2014/main" id="{2CA1A14A-379A-419E-BAF9-50776DD4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57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QWEN</a:t>
            </a:r>
          </a:p>
        </p:txBody>
      </p:sp>
      <p:sp>
        <p:nvSpPr>
          <p:cNvPr id="21" name="node-copy-2">
            <a:extLst xmlns:a="http://schemas.openxmlformats.org/drawingml/2006/main">
              <a:ext uri="{FF2B5EF4-FFF2-40B4-BE49-F238E27FC236}">
                <a16:creationId xmlns:a16="http://schemas.microsoft.com/office/drawing/2014/main" id="{59473E9C-BC3C-4A19-87C8-D7F9E3B0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384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Model Studio</a:t>
            </a:r>
          </a:p>
          <a:p xmlns:a="http://schemas.openxmlformats.org/drawingml/2006/main">
            <a:pPr algn="l">
              <a:def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Contradiction</a:t>
            </a:r>
          </a:p>
          <a:p xmlns:a="http://schemas.openxmlformats.org/drawingml/2006/main">
            <a:pPr algn="l">
              <a:def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Grounding</a:t>
            </a:r>
          </a:p>
        </p:txBody>
      </p:sp>
      <p:sp>
        <p:nvSpPr>
          <p:cNvPr id="22" name="node-label-3">
            <a:extLst xmlns:a="http://schemas.openxmlformats.org/drawingml/2006/main">
              <a:ext uri="{FF2B5EF4-FFF2-40B4-BE49-F238E27FC236}">
                <a16:creationId xmlns:a16="http://schemas.microsoft.com/office/drawing/2014/main" id="{AA99DF5D-61A9-4097-8611-4092B90A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57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174"/>
                </a:solidFill>
                <a:latin typeface="Helvetica Neue"/>
                <a:ea typeface="Helvetica Neue"/>
                <a:cs typeface="Helvetica Neue"/>
              </a:rPr>
              <a:t>HUMAN</a:t>
            </a:r>
          </a:p>
        </p:txBody>
      </p:sp>
      <p:sp>
        <p:nvSpPr>
          <p:cNvPr id="23" name="node-copy-3">
            <a:extLst xmlns:a="http://schemas.openxmlformats.org/drawingml/2006/main">
              <a:ext uri="{FF2B5EF4-FFF2-40B4-BE49-F238E27FC236}">
                <a16:creationId xmlns:a16="http://schemas.microsoft.com/office/drawing/2014/main" id="{676E8C9B-42E9-4BD8-B373-0AC00807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384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Inspect evidence</a:t>
            </a:r>
          </a:p>
          <a:p xmlns:a="http://schemas.openxmlformats.org/drawingml/2006/main">
            <a:pPr algn="l">
              <a:def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Rule truth</a:t>
            </a:r>
          </a:p>
          <a:p xmlns:a="http://schemas.openxmlformats.org/drawingml/2006/main">
            <a:pPr algn="l">
              <a:def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Undo available</a:t>
            </a:r>
          </a:p>
        </p:txBody>
      </p:sp>
      <p:sp>
        <p:nvSpPr>
          <p:cNvPr id="24" name="node-label-4">
            <a:extLst xmlns:a="http://schemas.openxmlformats.org/drawingml/2006/main">
              <a:ext uri="{FF2B5EF4-FFF2-40B4-BE49-F238E27FC236}">
                <a16:creationId xmlns:a16="http://schemas.microsoft.com/office/drawing/2014/main" id="{B41B99C0-99CE-4954-A951-C67FABE6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174"/>
                </a:solidFill>
                <a:latin typeface="Helvetica Neue"/>
                <a:ea typeface="Helvetica Neue"/>
                <a:cs typeface="Helvetica Neue"/>
              </a:rPr>
              <a:t>ENFORCE</a:t>
            </a:r>
          </a:p>
        </p:txBody>
      </p:sp>
      <p:sp>
        <p:nvSpPr>
          <p:cNvPr id="25" name="node-copy-4">
            <a:extLst xmlns:a="http://schemas.openxmlformats.org/drawingml/2006/main">
              <a:ext uri="{FF2B5EF4-FFF2-40B4-BE49-F238E27FC236}">
                <a16:creationId xmlns:a16="http://schemas.microsoft.com/office/drawing/2014/main" id="{F0755E28-14BC-4851-8AA3-7949B64B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384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Compiled law</a:t>
            </a:r>
          </a:p>
          <a:p xmlns:a="http://schemas.openxmlformats.org/drawingml/2006/main">
            <a:pPr algn="l">
              <a:def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Write-time guard</a:t>
            </a:r>
          </a:p>
          <a:p xmlns:a="http://schemas.openxmlformats.org/drawingml/2006/main">
            <a:pPr algn="l">
              <a:def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16 MCP tools</a:t>
            </a:r>
          </a:p>
        </p:txBody>
      </p:sp>
      <p:sp>
        <p:nvSpPr>
          <p:cNvPr id="26" name="db-label">
            <a:extLst xmlns:a="http://schemas.openxmlformats.org/drawingml/2006/main">
              <a:ext uri="{FF2B5EF4-FFF2-40B4-BE49-F238E27FC236}">
                <a16:creationId xmlns:a16="http://schemas.microsoft.com/office/drawing/2014/main" id="{D504E2EB-146D-4ADF-A5A8-E8817C46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57725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SQLITE + FTS5</a:t>
            </a:r>
          </a:p>
          <a:p xmlns:a="http://schemas.openxmlformats.org/drawingml/2006/main">
            <a:pPr algn="l">
              <a:defRPr sz="150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Local-first memory</a:t>
            </a:r>
          </a:p>
        </p:txBody>
      </p:sp>
      <p:sp>
        <p:nvSpPr>
          <p:cNvPr id="27" name="surface-label">
            <a:extLst xmlns:a="http://schemas.openxmlformats.org/drawingml/2006/main">
              <a:ext uri="{FF2B5EF4-FFF2-40B4-BE49-F238E27FC236}">
                <a16:creationId xmlns:a16="http://schemas.microsoft.com/office/drawing/2014/main" id="{17184AAD-0723-4E32-A6DD-4682894A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657725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macOS · CLI · Web</a:t>
            </a:r>
          </a:p>
          <a:p xmlns:a="http://schemas.openxmlformats.org/drawingml/2006/main">
            <a:pPr algn="l">
              <a:defRPr sz="12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Judge access on ECS</a:t>
            </a:r>
          </a:p>
        </p:txBody>
      </p:sp>
      <p:sp>
        <p:nvSpPr>
          <p:cNvPr id="28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BEC91772-5070-45D3-8F7B-90A2538D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7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174"/>
                </a:solidFill>
                <a:latin typeface="Helvetica Neue"/>
                <a:ea typeface="Helvetica Neue"/>
                <a:cs typeface="Helvetica Neue"/>
              </a:rPr>
              <a:t>Alibaba Cloud: Qwen Model Studio for inference · ECS in Singapore for the public backend</a:t>
            </a:r>
          </a:p>
        </p:txBody>
      </p:sp>
    </p:spTree>
    <p:extLst>
      <p:ext uri="{BB962C8B-B14F-4D97-AF65-F5344CB8AC3E}">
        <p14:creationId xmlns:p14="http://schemas.microsoft.com/office/powerpoint/2010/main" val="1322205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4">
            <a:extLst xmlns:a="http://schemas.openxmlformats.org/drawingml/2006/main">
              <a:ext uri="{FF2B5EF4-FFF2-40B4-BE49-F238E27FC236}">
                <a16:creationId xmlns:a16="http://schemas.microsoft.com/office/drawing/2014/main" id="{BAB8F452-97A1-4199-98C7-DFE01EEC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The implementation is measurable — including where it degrades</a:t>
            </a:r>
          </a:p>
        </p:txBody>
      </p:sp>
      <p:sp>
        <p:nvSpPr>
          <p:cNvPr id="2" name="footer-4">
            <a:extLst xmlns:a="http://schemas.openxmlformats.org/drawingml/2006/main">
              <a:ext uri="{FF2B5EF4-FFF2-40B4-BE49-F238E27FC236}">
                <a16:creationId xmlns:a16="http://schemas.microsoft.com/office/drawing/2014/main" id="{64074739-24DC-4BCF-B9D9-C3B3B287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174"/>
                </a:solidFill>
                <a:latin typeface="Helvetica Neue"/>
                <a:ea typeface="Helvetica Neue"/>
                <a:cs typeface="Helvetica Neue"/>
              </a:rPr>
              <a:t>MOUNT HELICON  ·  QWEN CLOUD MEMORYAGENT  ·  4</a:t>
            </a:r>
          </a:p>
        </p:txBody>
      </p:sp>
      <p:sp>
        <p:nvSpPr>
          <p:cNvPr id="3" name="proof-copy">
            <a:extLst xmlns:a="http://schemas.openxmlformats.org/drawingml/2006/main">
              <a:ext uri="{FF2B5EF4-FFF2-40B4-BE49-F238E27FC236}">
                <a16:creationId xmlns:a16="http://schemas.microsoft.com/office/drawing/2014/main" id="{7F3A6898-C333-440B-8C44-20E87C0D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58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174"/>
                </a:solidFill>
                <a:latin typeface="Helvetica Neue"/>
                <a:ea typeface="Helvetica Neue"/>
                <a:cs typeface="Helvetica Neue"/>
              </a:rPr>
              <a:t>The real store runs its own exam. The current full report is DEGRADED: grounding 0.385, with one broken task. Weakness is reported instead of hidden behind a green benchmark.</a:t>
            </a:r>
          </a:p>
        </p:txBody>
      </p:sp>
      <p:sp>
        <p:nvSpPr>
          <p:cNvPr id="4" name="metric-0">
            <a:extLst xmlns:a="http://schemas.openxmlformats.org/drawingml/2006/main">
              <a:ext uri="{FF2B5EF4-FFF2-40B4-BE49-F238E27FC236}">
                <a16:creationId xmlns:a16="http://schemas.microsoft.com/office/drawing/2014/main" id="{D9530062-CC69-4C01-BC4C-1DA4C010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3429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7BBA148F-6DDA-4845-989F-012C3DFB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12 / 12</a:t>
            </a:r>
          </a:p>
        </p:txBody>
      </p:sp>
      <p:sp>
        <p:nvSpPr>
          <p:cNvPr id="6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596CCB15-6A39-44EF-8363-D37BF85F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memory-rot classes tested</a:t>
            </a:r>
          </a:p>
        </p:txBody>
      </p:sp>
      <p:sp>
        <p:nvSpPr>
          <p:cNvPr id="7" name="metric-1">
            <a:extLst xmlns:a="http://schemas.openxmlformats.org/drawingml/2006/main">
              <a:ext uri="{FF2B5EF4-FFF2-40B4-BE49-F238E27FC236}">
                <a16:creationId xmlns:a16="http://schemas.microsoft.com/office/drawing/2014/main" id="{1A5EFAAD-A6E5-4657-8096-4E47A882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62250"/>
            <a:ext cx="3429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B8C0C9"/>
            </a:solidFill>
            <a:prstDash val="solid"/>
          </a:ln>
        </p:spPr>
      </p:sp>
      <p:sp>
        <p:nvSpPr>
          <p:cNvPr id="8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36A0D474-3914-4A1E-B5E5-CF743CA1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43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9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C0266A96-E2A8-4EFD-B9AC-7653023F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3338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MCP tools for agent integration</a:t>
            </a:r>
          </a:p>
        </p:txBody>
      </p:sp>
      <p:sp>
        <p:nvSpPr>
          <p:cNvPr id="10" name="metric-2">
            <a:extLst xmlns:a="http://schemas.openxmlformats.org/drawingml/2006/main">
              <a:ext uri="{FF2B5EF4-FFF2-40B4-BE49-F238E27FC236}">
                <a16:creationId xmlns:a16="http://schemas.microsoft.com/office/drawing/2014/main" id="{FC93E313-A41C-4CB2-982D-25373940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62250"/>
            <a:ext cx="3429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B8C0C9"/>
            </a:solidFill>
            <a:prstDash val="solid"/>
          </a:ln>
        </p:spPr>
      </p:sp>
      <p:sp>
        <p:nvSpPr>
          <p:cNvPr id="11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031E58C2-9689-422E-8CEA-AF7573DE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43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393</a:t>
            </a:r>
          </a:p>
        </p:txBody>
      </p:sp>
      <p:sp>
        <p:nvSpPr>
          <p:cNvPr id="12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2CECBA4A-5337-4DBA-A03F-9D6387D0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338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automated tests passing</a:t>
            </a:r>
          </a:p>
        </p:txBody>
      </p:sp>
    </p:spTree>
    <p:extLst>
      <p:ext uri="{BB962C8B-B14F-4D97-AF65-F5344CB8AC3E}">
        <p14:creationId xmlns:p14="http://schemas.microsoft.com/office/powerpoint/2010/main" val="1642696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2E7471D0-A2F0-40F3-A530-32EA4BF8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82311D2F-840B-437A-9000-88FE6A2A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Memory stores preserve facts.</a:t>
            </a:r>
          </a:p>
          <a:p xmlns:a="http://schemas.openxmlformats.org/drawingml/2006/main">
            <a:pPr algn="l">
              <a:defRPr sz="420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Mount Helicon makes truth binding.</a:t>
            </a:r>
          </a:p>
        </p:txBody>
      </p:sp>
      <p:sp>
        <p:nvSpPr>
          <p:cNvPr id="3" name="close-diff">
            <a:extLst xmlns:a="http://schemas.openxmlformats.org/drawingml/2006/main">
              <a:ext uri="{FF2B5EF4-FFF2-40B4-BE49-F238E27FC236}">
                <a16:creationId xmlns:a16="http://schemas.microsoft.com/office/drawing/2014/main" id="{E1DB4E49-DD0C-4C19-BEA4-0F0547B1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26174"/>
                </a:solidFill>
                <a:latin typeface="Helvetica Neue"/>
                <a:ea typeface="Helvetica Neue"/>
                <a:cs typeface="Helvetica Neue"/>
              </a:rPr>
              <a:t>Mem0 stores · Graphiti timestamps · Mount Helicon lets a human rule and re-alarms if the wrong value returns.</a:t>
            </a:r>
          </a:p>
        </p:txBody>
      </p:sp>
      <p:sp>
        <p:nvSpPr>
          <p:cNvPr id="4" name="close-links">
            <a:extLst xmlns:a="http://schemas.openxmlformats.org/drawingml/2006/main">
              <a:ext uri="{FF2B5EF4-FFF2-40B4-BE49-F238E27FC236}">
                <a16:creationId xmlns:a16="http://schemas.microsoft.com/office/drawing/2014/main" id="{0A134F49-F822-4340-992C-8E8CD2E5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LIVE  http://47.237.3.97:8420</a:t>
            </a:r>
          </a:p>
          <a:p xmlns:a="http://schemas.openxmlformats.org/drawingml/2006/main">
            <a:pPr algn="l">
              <a:defRPr sz="180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728"/>
                </a:solidFill>
                <a:latin typeface="Helvetica Neue"/>
                <a:ea typeface="Helvetica Neue"/>
                <a:cs typeface="Helvetica Neue"/>
              </a:rPr>
              <a:t>CODE  github.com/MorkeethHQ/mount-helicon</a:t>
            </a:r>
          </a:p>
        </p:txBody>
      </p:sp>
      <p:sp>
        <p:nvSpPr>
          <p:cNvPr id="5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75CDF7D5-2403-420F-AF22-02208621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"/>
            <a:ext cx="1352550" cy="563880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D9EEFA"/>
          </a:solidFill>
          <a:ln xmlns:a="http://schemas.openxmlformats.org/drawingml/2006/main" w="9525">
            <a:solidFill>
              <a:srgbClr val="D9EEFA"/>
            </a:solidFill>
            <a:prstDash val="solid"/>
          </a:ln>
        </p:spPr>
      </p:sp>
      <p:sp>
        <p:nvSpPr>
          <p:cNvPr id="6" name="close-mark">
            <a:extLst xmlns:a="http://schemas.openxmlformats.org/drawingml/2006/main">
              <a:ext uri="{FF2B5EF4-FFF2-40B4-BE49-F238E27FC236}">
                <a16:creationId xmlns:a16="http://schemas.microsoft.com/office/drawing/2014/main" id="{283D85F2-EF8D-4B48-BCF9-4E7FBEE3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762500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QWEN</a:t>
            </a:r>
          </a:p>
        </p:txBody>
      </p:sp>
      <p:sp>
        <p:nvSpPr>
          <p:cNvPr id="7" name="footer-5">
            <a:extLst xmlns:a="http://schemas.openxmlformats.org/drawingml/2006/main">
              <a:ext uri="{FF2B5EF4-FFF2-40B4-BE49-F238E27FC236}">
                <a16:creationId xmlns:a16="http://schemas.microsoft.com/office/drawing/2014/main" id="{1130A4F6-E685-47CD-8DAE-8458B201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174"/>
                </a:solidFill>
                <a:latin typeface="Helvetica Neue"/>
                <a:ea typeface="Helvetica Neue"/>
                <a:cs typeface="Helvetica Neue"/>
              </a:rPr>
              <a:t>MOUNT HELICON  ·  QWEN CLOUD MEMORYAGENT  ·  5</a:t>
            </a:r>
          </a:p>
        </p:txBody>
      </p:sp>
    </p:spTree>
    <p:extLst>
      <p:ext uri="{BB962C8B-B14F-4D97-AF65-F5344CB8AC3E}">
        <p14:creationId xmlns:p14="http://schemas.microsoft.com/office/powerpoint/2010/main" val="9630640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2026-07-20T20:18:44.7420000Z</dcterms:created>
  <dcterms:modified xsi:type="dcterms:W3CDTF">2026-07-20T20:18:44.7420000Z</dcterms:modified>
</coreProperties>
</file>